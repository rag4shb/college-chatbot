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67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Khot" userId="a580796b39d731d0" providerId="LiveId" clId="{3B6EA1AD-5624-4E95-8233-304CC1C0B09F}"/>
    <pc:docChg chg="custSel modSld">
      <pc:chgData name="Rahul Khot" userId="a580796b39d731d0" providerId="LiveId" clId="{3B6EA1AD-5624-4E95-8233-304CC1C0B09F}" dt="2026-05-03T16:10:18.706" v="2" actId="122"/>
      <pc:docMkLst>
        <pc:docMk/>
      </pc:docMkLst>
      <pc:sldChg chg="modSp mod">
        <pc:chgData name="Rahul Khot" userId="a580796b39d731d0" providerId="LiveId" clId="{3B6EA1AD-5624-4E95-8233-304CC1C0B09F}" dt="2026-05-03T16:10:18.706" v="2" actId="122"/>
        <pc:sldMkLst>
          <pc:docMk/>
          <pc:sldMk cId="0" sldId="256"/>
        </pc:sldMkLst>
        <pc:spChg chg="mod">
          <ac:chgData name="Rahul Khot" userId="a580796b39d731d0" providerId="LiveId" clId="{3B6EA1AD-5624-4E95-8233-304CC1C0B09F}" dt="2026-05-03T16:10:18.706" v="2" actId="122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Rahul Khot" userId="a580796b39d731d0" providerId="LiveId" clId="{3B6EA1AD-5624-4E95-8233-304CC1C0B09F}" dt="2026-05-03T16:10:02.652" v="1" actId="27636"/>
        <pc:sldMkLst>
          <pc:docMk/>
          <pc:sldMk cId="0" sldId="274"/>
        </pc:sldMkLst>
        <pc:spChg chg="mod">
          <ac:chgData name="Rahul Khot" userId="a580796b39d731d0" providerId="LiveId" clId="{3B6EA1AD-5624-4E95-8233-304CC1C0B09F}" dt="2026-05-03T16:10:02.652" v="1" actId="27636"/>
          <ac:spMkLst>
            <pc:docMk/>
            <pc:sldMk cId="0" sldId="27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414F-DE87-4D11-86EB-9B6F913E400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720B1-D1E9-4DBB-B0E9-275BE4EEEA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414F-DE87-4D11-86EB-9B6F913E400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720B1-D1E9-4DBB-B0E9-275BE4EEEA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414F-DE87-4D11-86EB-9B6F913E400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720B1-D1E9-4DBB-B0E9-275BE4EEEA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414F-DE87-4D11-86EB-9B6F913E400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720B1-D1E9-4DBB-B0E9-275BE4EEEA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414F-DE87-4D11-86EB-9B6F913E400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720B1-D1E9-4DBB-B0E9-275BE4EEEA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414F-DE87-4D11-86EB-9B6F913E400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720B1-D1E9-4DBB-B0E9-275BE4EEEA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414F-DE87-4D11-86EB-9B6F913E400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720B1-D1E9-4DBB-B0E9-275BE4EEEA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414F-DE87-4D11-86EB-9B6F913E400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720B1-D1E9-4DBB-B0E9-275BE4EEEA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414F-DE87-4D11-86EB-9B6F913E400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720B1-D1E9-4DBB-B0E9-275BE4EEEA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414F-DE87-4D11-86EB-9B6F913E400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720B1-D1E9-4DBB-B0E9-275BE4EEEA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414F-DE87-4D11-86EB-9B6F913E400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720B1-D1E9-4DBB-B0E9-275BE4EEEA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3414F-DE87-4D11-86EB-9B6F913E400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720B1-D1E9-4DBB-B0E9-275BE4EEEA8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0" y="0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Presentation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2286000"/>
            <a:ext cx="57912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Under the guides of</a:t>
            </a:r>
          </a:p>
          <a:p>
            <a:r>
              <a:rPr lang="en-US" sz="1600" b="1" dirty="0"/>
              <a:t>Prof: [Guide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2200" y="5550694"/>
            <a:ext cx="45720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DEPARTMENT OF COMPUTER SCIENCE &amp; ENGINEERING</a:t>
            </a:r>
          </a:p>
          <a:p>
            <a:pPr algn="ctr"/>
            <a:r>
              <a:rPr lang="en-US" dirty="0"/>
              <a:t>[COLLEGE NAME]</a:t>
            </a:r>
          </a:p>
          <a:p>
            <a:pPr algn="ctr"/>
            <a:r>
              <a:rPr lang="en-US" dirty="0"/>
              <a:t>VTU</a:t>
            </a:r>
          </a:p>
          <a:p>
            <a:pPr algn="ctr"/>
            <a:r>
              <a:rPr lang="en-US" b="1" dirty="0"/>
              <a:t>2024-2025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990600"/>
            <a:ext cx="16764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1400" y="990600"/>
            <a:ext cx="16764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PHOTO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0" y="990600"/>
            <a:ext cx="16764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PHOTO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89100" y="381000"/>
            <a:ext cx="606319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000" b="1" dirty="0"/>
              <a:t>“CHATBOT FOR COLLEGE ENQUIRIES”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3200400"/>
            <a:ext cx="1620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SUBMITTED BY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90600" y="3657600"/>
          <a:ext cx="7315200" cy="186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SL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/ USN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90600" y="0"/>
            <a:ext cx="118173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/>
              <a:t>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7800" y="457200"/>
            <a:ext cx="6096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dirty="0"/>
              <a:t>Introduction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Objective / Aim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History of Chatbots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Literature Survey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Existing System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Problem Statement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Proposed System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Schedule of Project / PERT Chart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Components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Working / Methodology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Design / Block Diagram / Coding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Data Flow Diagram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Implementation Details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Cost Estimation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Limitations / Disadvantages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Applications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Tools &amp; Resources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Future Scope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Conclusion / Result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References</a:t>
            </a:r>
          </a:p>
          <a:p>
            <a:r>
              <a:rPr lang="en-US" dirty="0"/>
              <a:t>	1) text</a:t>
            </a:r>
          </a:p>
          <a:p>
            <a:r>
              <a:rPr lang="en-US" dirty="0"/>
              <a:t>      	2) website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What is a Chatbot?</a:t>
            </a:r>
          </a:p>
          <a:p>
            <a:r>
              <a:rPr lang="en-US" sz="1600" dirty="0"/>
              <a:t>A chatbot is an AI-powered conversational assistant that can simulate human-like dialogue. It uses Natural Language Processing (NLP) and Machine Learning (ML) to understand and respond to user queries automatically.</a:t>
            </a:r>
          </a:p>
          <a:p>
            <a:endParaRPr lang="en-US" sz="1600" dirty="0"/>
          </a:p>
          <a:p>
            <a:r>
              <a:rPr lang="en-US" sz="2000" b="1" dirty="0"/>
              <a:t>Why a Chatbot for Colleges?</a:t>
            </a:r>
          </a:p>
          <a:p>
            <a:r>
              <a:rPr lang="en-US" sz="1600" dirty="0"/>
              <a:t>Colleges receive thousands of enquiries every academic year. Students and parents ask about admissions, fees, scholarships, hostels, placements, and exams. Managing these manually is slow, expensive, and inconsistent.</a:t>
            </a:r>
          </a:p>
          <a:p>
            <a:endParaRPr lang="en-US" sz="1600" dirty="0"/>
          </a:p>
          <a:p>
            <a:r>
              <a:rPr lang="en-US" sz="2000" b="1" dirty="0"/>
              <a:t>Our Solution</a:t>
            </a:r>
          </a:p>
          <a:p>
            <a:r>
              <a:rPr lang="en-US" sz="1600" dirty="0"/>
              <a:t>The Chatbot for College Enquiries provides 24x7 automated responses on the college website or mobile app — eliminating wait times, reducing administrative burden, and giving every student instant, accurate answers.</a:t>
            </a:r>
          </a:p>
          <a:p>
            <a:endParaRPr lang="en-US" sz="1600" dirty="0"/>
          </a:p>
          <a:p>
            <a:pPr>
              <a:buChar char="•"/>
            </a:pPr>
            <a:r>
              <a:rPr lang="en-US" sz="1600" dirty="0"/>
              <a:t>Built with Python, NLP (NLTK/spaCy), and a MySQL knowledge base</a:t>
            </a:r>
          </a:p>
          <a:p>
            <a:pPr>
              <a:buChar char="•"/>
            </a:pPr>
            <a:r>
              <a:rPr lang="en-US" sz="1600" dirty="0"/>
              <a:t>Deployed as a web-based chat interface on the college portal</a:t>
            </a:r>
          </a:p>
          <a:p>
            <a:pPr>
              <a:buChar char="•"/>
            </a:pPr>
            <a:r>
              <a:rPr lang="en-US" sz="1600" dirty="0"/>
              <a:t>Handles: Admissions | Fees | Scholarships | Hostels | Placements | Exams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OBJECTIVE / AIM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Primary Objectives</a:t>
            </a:r>
          </a:p>
          <a:p>
            <a:pPr>
              <a:buChar char="•"/>
            </a:pPr>
            <a:r>
              <a:rPr lang="en-US" sz="1600" dirty="0"/>
              <a:t>Provide instant, 24x7 responses to college-related enquiries</a:t>
            </a:r>
          </a:p>
          <a:p>
            <a:pPr>
              <a:buChar char="•"/>
            </a:pPr>
            <a:r>
              <a:rPr lang="en-US" sz="1600" dirty="0"/>
              <a:t>Reduce administrative workload by automating repetitive queries</a:t>
            </a:r>
          </a:p>
          <a:p>
            <a:pPr>
              <a:buChar char="•"/>
            </a:pPr>
            <a:r>
              <a:rPr lang="en-US" sz="1600" dirty="0"/>
              <a:t>Improve student and parent experience with a conversational interface</a:t>
            </a:r>
          </a:p>
          <a:p>
            <a:pPr>
              <a:buChar char="•"/>
            </a:pPr>
            <a:r>
              <a:rPr lang="en-US" sz="1600" dirty="0"/>
              <a:t>Handle multiple simultaneous user queries without delay</a:t>
            </a:r>
          </a:p>
          <a:p>
            <a:pPr>
              <a:buChar char="•"/>
            </a:pPr>
            <a:r>
              <a:rPr lang="en-US" sz="1600" dirty="0"/>
              <a:t>Deliver consistent and accurate information at all times</a:t>
            </a:r>
          </a:p>
          <a:p>
            <a:endParaRPr lang="en-US" sz="1600" dirty="0"/>
          </a:p>
          <a:p>
            <a:r>
              <a:rPr lang="en-US" sz="2000" b="1" dirty="0"/>
              <a:t>Secondary Objectives</a:t>
            </a:r>
          </a:p>
          <a:p>
            <a:pPr>
              <a:buChar char="•"/>
            </a:pPr>
            <a:r>
              <a:rPr lang="en-US" sz="1600" dirty="0"/>
              <a:t>Provide analytics dashboard tracking most-asked questions</a:t>
            </a:r>
          </a:p>
          <a:p>
            <a:pPr>
              <a:buChar char="•"/>
            </a:pPr>
            <a:r>
              <a:rPr lang="en-US" sz="1600" dirty="0"/>
              <a:t>Ensure secure, encrypted communication via HTTPS</a:t>
            </a:r>
          </a:p>
          <a:p>
            <a:pPr>
              <a:buChar char="•"/>
            </a:pPr>
            <a:r>
              <a:rPr lang="en-US" sz="1600" dirty="0"/>
              <a:t>Build scalable architecture to handle peak admission seasons</a:t>
            </a:r>
          </a:p>
          <a:p>
            <a:pPr>
              <a:buChar char="•"/>
            </a:pPr>
            <a:r>
              <a:rPr lang="en-US" sz="1600" dirty="0"/>
              <a:t>Create an extensible system for future multilingual support</a:t>
            </a:r>
          </a:p>
          <a:p>
            <a:endParaRPr lang="en-US" sz="1600" dirty="0"/>
          </a:p>
          <a:p>
            <a:r>
              <a:rPr lang="en-US" sz="2000" b="1" dirty="0"/>
              <a:t>Measurable Targets</a:t>
            </a:r>
          </a:p>
          <a:p>
            <a:pPr>
              <a:buChar char="•"/>
            </a:pPr>
            <a:r>
              <a:rPr lang="en-US" sz="1600" dirty="0"/>
              <a:t>Achieve intent recognition accuracy of over 85%</a:t>
            </a:r>
          </a:p>
          <a:p>
            <a:pPr>
              <a:buChar char="•"/>
            </a:pPr>
            <a:r>
              <a:rPr lang="en-US" sz="1600" dirty="0"/>
              <a:t>Reduce average response time from hours to under 3 seconds</a:t>
            </a:r>
          </a:p>
          <a:p>
            <a:pPr>
              <a:buChar char="•"/>
            </a:pPr>
            <a:r>
              <a:rPr lang="en-US" sz="1600" dirty="0"/>
              <a:t>Handle 100+ concurrent users without performance degradation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HISTORY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Evolution of Chatbots</a:t>
            </a:r>
          </a:p>
          <a:p>
            <a:pPr>
              <a:buChar char="•"/>
            </a:pPr>
            <a:r>
              <a:rPr lang="en-US" sz="1600" dirty="0"/>
              <a:t>1966 – ELIZA: First chatbot by MIT, simulated psychotherapist conversations using pattern matching</a:t>
            </a:r>
          </a:p>
          <a:p>
            <a:pPr>
              <a:buChar char="•"/>
            </a:pPr>
            <a:r>
              <a:rPr lang="en-US" sz="1600" dirty="0"/>
              <a:t>1972 – PARRY: Simulated a paranoid patient; more sophisticated than ELIZA</a:t>
            </a:r>
          </a:p>
          <a:p>
            <a:pPr>
              <a:buChar char="•"/>
            </a:pPr>
            <a:r>
              <a:rPr lang="en-US" sz="1600" dirty="0"/>
              <a:t>1995 – A.L.I.C.E: Used AIML (AI Markup Language) for natural language responses</a:t>
            </a:r>
          </a:p>
          <a:p>
            <a:pPr>
              <a:buChar char="•"/>
            </a:pPr>
            <a:r>
              <a:rPr lang="en-US" sz="1600" dirty="0"/>
              <a:t>2001 – SmarterChild: Early commercial chatbot on AOL Instant Messenger</a:t>
            </a:r>
          </a:p>
          <a:p>
            <a:pPr>
              <a:buChar char="•"/>
            </a:pPr>
            <a:r>
              <a:rPr lang="en-US" sz="1600" dirty="0"/>
              <a:t>2011 – Apple Siri: First mainstream AI voice assistant; redefined user expectations</a:t>
            </a:r>
          </a:p>
          <a:p>
            <a:pPr>
              <a:buChar char="•"/>
            </a:pPr>
            <a:r>
              <a:rPr lang="en-US" sz="1600" dirty="0"/>
              <a:t>2016 – Facebook Messenger Bots: Businesses widely adopted rule-based chatbots</a:t>
            </a:r>
          </a:p>
          <a:p>
            <a:pPr>
              <a:buChar char="•"/>
            </a:pPr>
            <a:r>
              <a:rPr lang="en-US" sz="1600" dirty="0"/>
              <a:t>2017 – Google Dialogflow / IBM Watson: Enterprise-grade NLP chatbot platforms</a:t>
            </a:r>
          </a:p>
          <a:p>
            <a:pPr>
              <a:buChar char="•"/>
            </a:pPr>
            <a:r>
              <a:rPr lang="en-US" sz="1600" dirty="0"/>
              <a:t>2020+ – GPT-based Chatbots: Deep learning models capable of human-like open-ended conversation</a:t>
            </a:r>
          </a:p>
          <a:p>
            <a:endParaRPr lang="en-US" sz="1600" dirty="0"/>
          </a:p>
          <a:p>
            <a:r>
              <a:rPr lang="en-US" sz="2000" b="1" dirty="0"/>
              <a:t>Chatbots in Education</a:t>
            </a:r>
          </a:p>
          <a:p>
            <a:pPr>
              <a:buChar char="•"/>
            </a:pPr>
            <a:r>
              <a:rPr lang="en-US" sz="1600" dirty="0"/>
              <a:t>Universities globally now deploy chatbots for admissions, student support, and campus navigation</a:t>
            </a:r>
          </a:p>
          <a:p>
            <a:pPr>
              <a:buChar char="•"/>
            </a:pPr>
            <a:r>
              <a:rPr lang="en-US" sz="1600" dirty="0"/>
              <a:t>Studies show AI chatbots reduce enquiry response time by up to 80%</a:t>
            </a:r>
          </a:p>
          <a:p>
            <a:pPr>
              <a:buChar char="•"/>
            </a:pPr>
            <a:r>
              <a:rPr lang="en-US" sz="1600" dirty="0"/>
              <a:t>India's EdTech sector has begun adopting chatbots for regional language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LITERATURE SURVEY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Key Research &amp; Surveys</a:t>
            </a:r>
          </a:p>
          <a:p>
            <a:pPr>
              <a:buChar char="•"/>
            </a:pPr>
            <a:r>
              <a:rPr lang="en-US" sz="1600" dirty="0"/>
              <a:t>Study 1: Adamopoulou &amp; Moussiades (2020) — Reviewed chatbot technologies; found NLP-based bots outperform rule-based in accuracy by 30%</a:t>
            </a:r>
          </a:p>
          <a:p>
            <a:pPr>
              <a:buChar char="•"/>
            </a:pPr>
            <a:r>
              <a:rPr lang="en-US" sz="1600" dirty="0"/>
              <a:t>Study 2: Woebot Health (2021) — Chatbots reduce query resolution time by 60-80% in service sectors</a:t>
            </a:r>
          </a:p>
          <a:p>
            <a:pPr>
              <a:buChar char="•"/>
            </a:pPr>
            <a:r>
              <a:rPr lang="en-US" sz="1600" dirty="0"/>
              <a:t>Study 3: Shum et al. (2018) — Deep learning chatbots show context retention superior to scripted bots</a:t>
            </a:r>
          </a:p>
          <a:p>
            <a:pPr>
              <a:buChar char="•"/>
            </a:pPr>
            <a:r>
              <a:rPr lang="en-US" sz="1600" dirty="0"/>
              <a:t>Study 4: IEEE (2022) — College chatbots reduce administrative staff workload significantly during peak periods</a:t>
            </a:r>
          </a:p>
          <a:p>
            <a:endParaRPr lang="en-US" sz="1600" dirty="0"/>
          </a:p>
          <a:p>
            <a:r>
              <a:rPr lang="en-US" sz="2000" b="1" dirty="0"/>
              <a:t>Survey Findings (Student Questionnaire)</a:t>
            </a:r>
          </a:p>
          <a:p>
            <a:pPr>
              <a:buChar char="•"/>
            </a:pPr>
            <a:r>
              <a:rPr lang="en-US" sz="1600" dirty="0"/>
              <a:t>Q: Do you face delays getting college information? — Yes: 85% | No: 15%</a:t>
            </a:r>
          </a:p>
          <a:p>
            <a:pPr>
              <a:buChar char="•"/>
            </a:pPr>
            <a:r>
              <a:rPr lang="en-US" sz="1600" dirty="0"/>
              <a:t>Q: Would you use a chatbot for instant answers? — Yes: 90% | No: 10%</a:t>
            </a:r>
          </a:p>
          <a:p>
            <a:pPr>
              <a:buChar char="•"/>
            </a:pPr>
            <a:r>
              <a:rPr lang="en-US" sz="1600" dirty="0"/>
              <a:t>Q: Is 24x7 availability important to you? — Yes: 88% | No: 12%</a:t>
            </a:r>
          </a:p>
          <a:p>
            <a:pPr>
              <a:buChar char="•"/>
            </a:pPr>
            <a:r>
              <a:rPr lang="en-US" sz="1600" dirty="0"/>
              <a:t>Q: Do you prefer chat over calling the office? — Yes: 78% | No: 22%</a:t>
            </a:r>
          </a:p>
          <a:p>
            <a:endParaRPr lang="en-US" sz="1600" dirty="0"/>
          </a:p>
          <a:p>
            <a:r>
              <a:rPr lang="en-US" sz="1700" dirty="0"/>
              <a:t>Conclusion from Survey</a:t>
            </a:r>
          </a:p>
          <a:p>
            <a:r>
              <a:rPr lang="en-US" sz="1600" dirty="0"/>
              <a:t>The survey strongly validates the need for an AI-based chatbot system in educational institutions.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EXISTING SYSTEM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Current Enquiry Systems in Colleges</a:t>
            </a:r>
          </a:p>
          <a:p>
            <a:endParaRPr lang="en-US" sz="2000" b="1" dirty="0"/>
          </a:p>
          <a:p>
            <a:r>
              <a:rPr lang="en-US" sz="1800" b="1" dirty="0"/>
              <a:t>1. Manual Phone/Email Handling</a:t>
            </a:r>
          </a:p>
          <a:p>
            <a:pPr>
              <a:buChar char="•"/>
            </a:pPr>
            <a:r>
              <a:rPr lang="en-US" sz="1600" dirty="0"/>
              <a:t>Staff answer calls and emails individually during office hours only</a:t>
            </a:r>
          </a:p>
          <a:p>
            <a:pPr>
              <a:buChar char="•"/>
            </a:pPr>
            <a:r>
              <a:rPr lang="en-US" sz="1600" dirty="0"/>
              <a:t>High volume leads to delays, long queues, and inconsistent answers</a:t>
            </a:r>
          </a:p>
          <a:p>
            <a:endParaRPr lang="en-US" sz="1600" dirty="0"/>
          </a:p>
          <a:p>
            <a:r>
              <a:rPr lang="en-US" sz="1800" b="1" dirty="0"/>
              <a:t>2. Static FAQ Web Pages</a:t>
            </a:r>
          </a:p>
          <a:p>
            <a:pPr>
              <a:buChar char="•"/>
            </a:pPr>
            <a:r>
              <a:rPr lang="en-US" sz="1600" dirty="0"/>
              <a:t>Users must browse multiple pages to find answers</a:t>
            </a:r>
          </a:p>
          <a:p>
            <a:pPr>
              <a:buChar char="•"/>
            </a:pPr>
            <a:r>
              <a:rPr lang="en-US" sz="1600" dirty="0"/>
              <a:t>No interactivity; outdated information is common</a:t>
            </a:r>
          </a:p>
          <a:p>
            <a:endParaRPr lang="en-US" sz="1600" dirty="0"/>
          </a:p>
          <a:p>
            <a:r>
              <a:rPr lang="en-US" sz="1800" b="1" dirty="0"/>
              <a:t>3. Rule-Based Keyword Chatbots</a:t>
            </a:r>
          </a:p>
          <a:p>
            <a:pPr>
              <a:buChar char="•"/>
            </a:pPr>
            <a:r>
              <a:rPr lang="en-US" sz="1600" dirty="0"/>
              <a:t>Match fixed keywords; fail on paraphrased or complex questions</a:t>
            </a:r>
          </a:p>
          <a:p>
            <a:pPr>
              <a:buChar char="•"/>
            </a:pPr>
            <a:r>
              <a:rPr lang="en-US" sz="1600" dirty="0"/>
              <a:t>No context memory; each message treated as new</a:t>
            </a:r>
          </a:p>
          <a:p>
            <a:endParaRPr lang="en-US" sz="1600" dirty="0"/>
          </a:p>
          <a:p>
            <a:r>
              <a:rPr lang="en-US" sz="2000" b="1" dirty="0"/>
              <a:t>Key Disadvantages</a:t>
            </a:r>
          </a:p>
          <a:p>
            <a:pPr>
              <a:buChar char="•"/>
            </a:pPr>
            <a:r>
              <a:rPr lang="en-US" sz="1600" dirty="0"/>
              <a:t>No 24x7 availability | Cannot handle simultaneous high volumes</a:t>
            </a:r>
          </a:p>
          <a:p>
            <a:pPr>
              <a:buChar char="•"/>
            </a:pPr>
            <a:r>
              <a:rPr lang="en-US" sz="1600" dirty="0"/>
              <a:t>Inconsistent responses | No analytics or learning capability</a:t>
            </a:r>
          </a:p>
          <a:p>
            <a:pPr>
              <a:buChar char="•"/>
            </a:pPr>
            <a:r>
              <a:rPr lang="en-US" sz="1600" dirty="0"/>
              <a:t>Poor scalability during peak admission periods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The Core Problem</a:t>
            </a:r>
          </a:p>
          <a:p>
            <a:r>
              <a:rPr lang="en-US" sz="1600" dirty="0"/>
              <a:t>Educational institutions receive thousands of repetitive enquiries annually. Current manual and semi-digital systems are unable to deliver timely, consistent, and scalable support — especially during peak admission seasons.</a:t>
            </a:r>
          </a:p>
          <a:p>
            <a:endParaRPr lang="en-US" sz="1600" dirty="0"/>
          </a:p>
          <a:p>
            <a:r>
              <a:rPr lang="en-US" sz="2000" b="1" dirty="0"/>
              <a:t>Specific Pain Points</a:t>
            </a:r>
          </a:p>
          <a:p>
            <a:pPr>
              <a:buChar char="•"/>
            </a:pPr>
            <a:r>
              <a:rPr lang="en-US" sz="1600" dirty="0"/>
              <a:t>Students wait hours or days for responses to basic queries</a:t>
            </a:r>
          </a:p>
          <a:p>
            <a:pPr>
              <a:buChar char="•"/>
            </a:pPr>
            <a:r>
              <a:rPr lang="en-US" sz="1600" dirty="0"/>
              <a:t>Administrative staff are overwhelmed with repetitive questions</a:t>
            </a:r>
          </a:p>
          <a:p>
            <a:pPr>
              <a:buChar char="•"/>
            </a:pPr>
            <a:r>
              <a:rPr lang="en-US" sz="1600" dirty="0"/>
              <a:t>No single, reliable source of truth for institutional information</a:t>
            </a:r>
          </a:p>
          <a:p>
            <a:pPr>
              <a:buChar char="•"/>
            </a:pPr>
            <a:r>
              <a:rPr lang="en-US" sz="1600" dirty="0"/>
              <a:t>After-hours enquiries go unanswered, leading to lost applicants</a:t>
            </a:r>
          </a:p>
          <a:p>
            <a:pPr>
              <a:buChar char="•"/>
            </a:pPr>
            <a:r>
              <a:rPr lang="en-US" sz="1600" dirty="0"/>
              <a:t>Inconsistent answers from different staff members cause confusion</a:t>
            </a:r>
          </a:p>
          <a:p>
            <a:pPr>
              <a:buChar char="•"/>
            </a:pPr>
            <a:r>
              <a:rPr lang="en-US" sz="1600" dirty="0"/>
              <a:t>No system to track what students are asking most frequently</a:t>
            </a:r>
          </a:p>
          <a:p>
            <a:endParaRPr lang="en-US" sz="1600" dirty="0"/>
          </a:p>
          <a:p>
            <a:r>
              <a:rPr lang="en-US" sz="2000" b="1" dirty="0"/>
              <a:t>Problem Statement</a:t>
            </a:r>
          </a:p>
          <a:p>
            <a:r>
              <a:rPr lang="en-US" sz="1600" dirty="0"/>
              <a:t>“Design and develop an AI-powered chatbot system for college enquiries that provides 24x7 instant, accurate, and context-aware responses — reducing administrative burden and improving student experience.”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PROPOSED SYSTEM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Proposed Solution: AI-Powered College Chatbot</a:t>
            </a:r>
          </a:p>
          <a:p>
            <a:r>
              <a:rPr lang="en-US" sz="1600" dirty="0"/>
              <a:t>An intelligent chatbot that uses NLP and Machine Learning to understand natural language queries and deliver instant, accurate responses via the college website or mobile app.</a:t>
            </a:r>
          </a:p>
          <a:p>
            <a:endParaRPr lang="en-US" sz="1600" dirty="0"/>
          </a:p>
          <a:p>
            <a:r>
              <a:rPr lang="en-US" sz="2000" b="1" dirty="0"/>
              <a:t>System Modules</a:t>
            </a:r>
          </a:p>
          <a:p>
            <a:pPr>
              <a:buChar char="•"/>
            </a:pPr>
            <a:r>
              <a:rPr lang="en-US" sz="1600" dirty="0"/>
              <a:t>User Interface: Web-based responsive chat window on the college portal</a:t>
            </a:r>
          </a:p>
          <a:p>
            <a:pPr>
              <a:buChar char="•"/>
            </a:pPr>
            <a:r>
              <a:rPr lang="en-US" sz="1600" dirty="0"/>
              <a:t>NLP Engine: Tokenization, stop-word removal, stemming, entity recognition</a:t>
            </a:r>
          </a:p>
          <a:p>
            <a:pPr>
              <a:buChar char="•"/>
            </a:pPr>
            <a:r>
              <a:rPr lang="en-US" sz="1600" dirty="0"/>
              <a:t>Intent Classifier: ML model categorizing queries into topics (Admissions, Fees, etc.)</a:t>
            </a:r>
          </a:p>
          <a:p>
            <a:pPr>
              <a:buChar char="•"/>
            </a:pPr>
            <a:r>
              <a:rPr lang="en-US" sz="1600" dirty="0"/>
              <a:t>Knowledge Base: MySQL/MongoDB database with structured institutional data</a:t>
            </a:r>
          </a:p>
          <a:p>
            <a:pPr>
              <a:buChar char="•"/>
            </a:pPr>
            <a:r>
              <a:rPr lang="en-US" sz="1600" dirty="0"/>
              <a:t>Response Generator: Template-based or AI-driven reply generator</a:t>
            </a:r>
          </a:p>
          <a:p>
            <a:pPr>
              <a:buChar char="•"/>
            </a:pPr>
            <a:r>
              <a:rPr lang="en-US" sz="1600" dirty="0"/>
              <a:t>Admin Dashboard: Update info, monitor usage, view analytics reports</a:t>
            </a:r>
          </a:p>
          <a:p>
            <a:pPr>
              <a:buChar char="•"/>
            </a:pPr>
            <a:r>
              <a:rPr lang="en-US" sz="1600" dirty="0"/>
              <a:t>Cloud Deployment: AWS/Azure for scalability and 24x7 uptime</a:t>
            </a:r>
          </a:p>
          <a:p>
            <a:endParaRPr lang="en-US" sz="1600" dirty="0"/>
          </a:p>
          <a:p>
            <a:r>
              <a:rPr lang="en-US" sz="2000" b="1" dirty="0"/>
              <a:t>Key Advantages</a:t>
            </a:r>
          </a:p>
          <a:p>
            <a:pPr>
              <a:buChar char="•"/>
            </a:pPr>
            <a:r>
              <a:rPr lang="en-US" sz="1600" dirty="0"/>
              <a:t>24x7 availability | Real-time responses under 3 seconds</a:t>
            </a:r>
          </a:p>
          <a:p>
            <a:pPr>
              <a:buChar char="•"/>
            </a:pPr>
            <a:r>
              <a:rPr lang="en-US" sz="1600" dirty="0"/>
              <a:t>Handles 100+ simultaneous users | Self-improving with usage data</a:t>
            </a:r>
          </a:p>
          <a:p>
            <a:pPr>
              <a:buChar char="•"/>
            </a:pPr>
            <a:r>
              <a:rPr lang="en-US" sz="1600" dirty="0"/>
              <a:t>Secure HTTPS communication | Role-based admin access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3980" y="547467"/>
            <a:ext cx="4825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SCHEDULE OF PROJECT / PERT CHART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1000" y="1371600"/>
          <a:ext cx="8458199" cy="4181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90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90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54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90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30931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b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JAN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b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FEB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b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b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APRIL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668">
                <a:tc>
                  <a:txBody>
                    <a:bodyPr/>
                    <a:lstStyle/>
                    <a:p>
                      <a:endParaRPr lang="en-US" b="0" i="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1-15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16-31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16-31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16-31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16-31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Data</a:t>
                      </a:r>
                      <a:r>
                        <a:rPr lang="en-US" b="0" i="0" baseline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Collection</a:t>
                      </a:r>
                      <a:endParaRPr lang="en-US" b="0" i="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08">
                <a:tc>
                  <a:txBody>
                    <a:bodyPr/>
                    <a:lstStyle/>
                    <a:p>
                      <a:r>
                        <a:rPr lang="en-US" b="0" i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Literature</a:t>
                      </a:r>
                      <a:r>
                        <a:rPr lang="en-US" b="0" i="0" baseline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 Survey</a:t>
                      </a:r>
                      <a:endParaRPr lang="en-US" b="0" i="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04">
                <a:tc>
                  <a:txBody>
                    <a:bodyPr/>
                    <a:lstStyle/>
                    <a:p>
                      <a:r>
                        <a:rPr lang="en-US" b="0" i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Circuit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04">
                <a:tc>
                  <a:txBody>
                    <a:bodyPr/>
                    <a:lstStyle/>
                    <a:p>
                      <a:r>
                        <a:rPr lang="en-US" b="0" i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Flow</a:t>
                      </a:r>
                      <a:r>
                        <a:rPr lang="en-US" b="0" i="0" baseline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 Diagram</a:t>
                      </a:r>
                      <a:endParaRPr lang="en-US" b="0" i="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04">
                <a:tc>
                  <a:txBody>
                    <a:bodyPr/>
                    <a:lstStyle/>
                    <a:p>
                      <a:r>
                        <a:rPr lang="en-US" b="0" i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Frontend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04">
                <a:tc>
                  <a:txBody>
                    <a:bodyPr/>
                    <a:lstStyle/>
                    <a:p>
                      <a:r>
                        <a:rPr lang="en-US" b="0" i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Backend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04">
                <a:tc>
                  <a:txBody>
                    <a:bodyPr/>
                    <a:lstStyle/>
                    <a:p>
                      <a:r>
                        <a:rPr lang="en-US" b="0" i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0292">
                <a:tc>
                  <a:txBody>
                    <a:bodyPr/>
                    <a:lstStyle/>
                    <a:p>
                      <a:r>
                        <a:rPr lang="en-US" b="0" i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Reporting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COMPONENTS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Hardware Components</a:t>
            </a:r>
          </a:p>
          <a:p>
            <a:pPr>
              <a:buChar char="•"/>
            </a:pPr>
            <a:r>
              <a:rPr lang="en-US" sz="1600" dirty="0"/>
              <a:t>Server: Multi-core processor (Intel i5+), 8GB+ RAM, 100GB SSD</a:t>
            </a:r>
          </a:p>
          <a:p>
            <a:pPr>
              <a:buChar char="•"/>
            </a:pPr>
            <a:r>
              <a:rPr lang="en-US" sz="1600" dirty="0"/>
              <a:t>Client: Desktop, laptop, tablet or smartphone with internet access</a:t>
            </a:r>
          </a:p>
          <a:p>
            <a:pPr>
              <a:buChar char="•"/>
            </a:pPr>
            <a:r>
              <a:rPr lang="en-US" sz="1600" dirty="0"/>
              <a:t>Network: High-speed broadband (100 Mbps+) for server deployment</a:t>
            </a:r>
          </a:p>
          <a:p>
            <a:pPr>
              <a:buChar char="•"/>
            </a:pPr>
            <a:r>
              <a:rPr lang="en-US" sz="1600" dirty="0"/>
              <a:t>Cloud: AWS EC2 / Azure VM — auto-scaling for peak traffic</a:t>
            </a:r>
          </a:p>
          <a:p>
            <a:endParaRPr lang="en-US" sz="1600" dirty="0"/>
          </a:p>
          <a:p>
            <a:r>
              <a:rPr lang="en-US" sz="2000" b="1" dirty="0"/>
              <a:t>Software Components</a:t>
            </a:r>
          </a:p>
          <a:p>
            <a:pPr>
              <a:buChar char="•"/>
            </a:pPr>
            <a:r>
              <a:rPr lang="en-US" sz="1600" dirty="0"/>
              <a:t>Backend: Python 3.9+ with Flask / Django web framework</a:t>
            </a:r>
          </a:p>
          <a:p>
            <a:pPr>
              <a:buChar char="•"/>
            </a:pPr>
            <a:r>
              <a:rPr lang="en-US" sz="1600" dirty="0"/>
              <a:t>Frontend: HTML5, CSS3, JavaScript (responsive chat UI)</a:t>
            </a:r>
          </a:p>
          <a:p>
            <a:pPr>
              <a:buChar char="•"/>
            </a:pPr>
            <a:r>
              <a:rPr lang="en-US" sz="1600" dirty="0"/>
              <a:t>NLP Libraries: NLTK, spaCy for text preprocessing and parsing</a:t>
            </a:r>
          </a:p>
          <a:p>
            <a:pPr>
              <a:buChar char="•"/>
            </a:pPr>
            <a:r>
              <a:rPr lang="en-US" sz="1600" dirty="0"/>
              <a:t>ML Framework: TensorFlow / scikit-learn for intent classification</a:t>
            </a:r>
          </a:p>
          <a:p>
            <a:pPr>
              <a:buChar char="•"/>
            </a:pPr>
            <a:r>
              <a:rPr lang="en-US" sz="1600" dirty="0"/>
              <a:t>Database: MySQL 8.0 or MongoDB 5.0 for knowledge base storage</a:t>
            </a:r>
          </a:p>
          <a:p>
            <a:pPr>
              <a:buChar char="•"/>
            </a:pPr>
            <a:r>
              <a:rPr lang="en-US" sz="1600" dirty="0"/>
              <a:t>API: RESTful APIs with JSON — HTTPS secured</a:t>
            </a:r>
          </a:p>
          <a:p>
            <a:pPr>
              <a:buChar char="•"/>
            </a:pPr>
            <a:r>
              <a:rPr lang="en-US" sz="1600" dirty="0"/>
              <a:t>Web Server: Nginx / Apache for production deployment</a:t>
            </a:r>
          </a:p>
          <a:p>
            <a:pPr>
              <a:buChar char="•"/>
            </a:pPr>
            <a:r>
              <a:rPr lang="en-US" sz="1600" dirty="0"/>
              <a:t>Version Control: Git + GitHub for source code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WORKING / METHODOLOGY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How the Chatbot Works — Step by Step</a:t>
            </a:r>
          </a:p>
          <a:p>
            <a:endParaRPr lang="en-US" sz="2000" b="1" dirty="0"/>
          </a:p>
          <a:p>
            <a:pPr>
              <a:buChar char="•"/>
            </a:pPr>
            <a:r>
              <a:rPr lang="en-US" sz="1600" dirty="0"/>
              <a:t>Step 1 — User Input: Student types a query in the chat window (e.g., “What is the last date to apply for admission?”)</a:t>
            </a:r>
          </a:p>
          <a:p>
            <a:pPr>
              <a:buChar char="•"/>
            </a:pPr>
            <a:r>
              <a:rPr lang="en-US" sz="1600" dirty="0"/>
              <a:t>Step 2 — Preprocessing: NLP engine tokenizes, removes stop words, and stems the input</a:t>
            </a:r>
          </a:p>
          <a:p>
            <a:pPr>
              <a:buChar char="•"/>
            </a:pPr>
            <a:r>
              <a:rPr lang="en-US" sz="1600" dirty="0"/>
              <a:t>Step 3 — Intent Classification: ML model identifies query category (e.g., “Admissions”)</a:t>
            </a:r>
          </a:p>
          <a:p>
            <a:pPr>
              <a:buChar char="•"/>
            </a:pPr>
            <a:r>
              <a:rPr lang="en-US" sz="1600" dirty="0"/>
              <a:t>Step 4 — Entity Extraction: System identifies key entities (course name, date, department)</a:t>
            </a:r>
          </a:p>
          <a:p>
            <a:pPr>
              <a:buChar char="•"/>
            </a:pPr>
            <a:r>
              <a:rPr lang="en-US" sz="1600" dirty="0"/>
              <a:t>Step 5 — Database Lookup: Relevant data is fetched from the structured knowledge base</a:t>
            </a:r>
          </a:p>
          <a:p>
            <a:pPr>
              <a:buChar char="•"/>
            </a:pPr>
            <a:r>
              <a:rPr lang="en-US" sz="1600" dirty="0"/>
              <a:t>Step 6 — Response Generation: A clear, professional answer is composed and returned</a:t>
            </a:r>
          </a:p>
          <a:p>
            <a:pPr>
              <a:buChar char="•"/>
            </a:pPr>
            <a:r>
              <a:rPr lang="en-US" sz="1600" dirty="0"/>
              <a:t>Step 7 — Display: Answer is shown in the chat window within seconds</a:t>
            </a:r>
          </a:p>
          <a:p>
            <a:pPr>
              <a:buChar char="•"/>
            </a:pPr>
            <a:r>
              <a:rPr lang="en-US" sz="1600" dirty="0"/>
              <a:t>Step 8 — Logging: Interaction is logged for analytics and model improvement</a:t>
            </a:r>
          </a:p>
          <a:p>
            <a:endParaRPr lang="en-US" sz="1600" dirty="0"/>
          </a:p>
          <a:p>
            <a:r>
              <a:rPr lang="en-US" sz="2000" b="1" dirty="0"/>
              <a:t>Methodology</a:t>
            </a:r>
          </a:p>
          <a:p>
            <a:pPr>
              <a:buChar char="•"/>
            </a:pPr>
            <a:r>
              <a:rPr lang="en-US" sz="1600" dirty="0"/>
              <a:t>Agile development methodology — iterative sprints with continuous testing</a:t>
            </a:r>
          </a:p>
          <a:p>
            <a:pPr>
              <a:buChar char="•"/>
            </a:pPr>
            <a:r>
              <a:rPr lang="en-US" sz="1600" dirty="0"/>
              <a:t>Training data collected from common college FAQs and student surveys</a:t>
            </a:r>
          </a:p>
          <a:p>
            <a:pPr>
              <a:buChar char="•"/>
            </a:pPr>
            <a:r>
              <a:rPr lang="en-US" sz="1600" dirty="0"/>
              <a:t>Model evaluated using accuracy, precision, recall, and F1-score metrics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DESIGN / CODING / BLOCK DIAGRAM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System Architecture &amp; Block Diagram</a:t>
            </a:r>
          </a:p>
          <a:p>
            <a:endParaRPr lang="en-US" sz="2000" b="1" dirty="0"/>
          </a:p>
          <a:p>
            <a:r>
              <a:rPr lang="en-US" sz="1800" b="1" dirty="0"/>
              <a:t>Data Flow</a:t>
            </a:r>
          </a:p>
          <a:p>
            <a:r>
              <a:rPr lang="en-US" sz="1600" dirty="0"/>
              <a:t>[ User ] ──&gt; [ Chat Interface (Web/App) ] ──&gt; [ API Gateway ]</a:t>
            </a:r>
          </a:p>
          <a:p>
            <a:r>
              <a:rPr lang="en-US" sz="1600" dirty="0"/>
              <a:t>    ──&gt; [ NLP Engine ] ──&gt; [ Intent Classifier ] ──&gt; [ Entity Extractor ]</a:t>
            </a:r>
          </a:p>
          <a:p>
            <a:r>
              <a:rPr lang="en-US" sz="1600" dirty="0"/>
              <a:t>    ──&gt; [ Knowledge Base (MySQL/MongoDB) ] ──&gt; [ Response Generator ]</a:t>
            </a:r>
          </a:p>
          <a:p>
            <a:r>
              <a:rPr lang="en-US" sz="1600" dirty="0"/>
              <a:t>    ──&gt; [ Chat Interface ] ──&gt; [ User ]</a:t>
            </a:r>
          </a:p>
          <a:p>
            <a:endParaRPr lang="en-US" sz="1600" dirty="0"/>
          </a:p>
          <a:p>
            <a:r>
              <a:rPr lang="en-US" sz="2000" b="1" dirty="0"/>
              <a:t>Module Design</a:t>
            </a:r>
          </a:p>
          <a:p>
            <a:pPr>
              <a:buChar char="•"/>
            </a:pPr>
            <a:r>
              <a:rPr lang="en-US" sz="1600" dirty="0"/>
              <a:t>Input Module: Accepts text via web or mobile interface; sanitizes and forwards</a:t>
            </a:r>
          </a:p>
          <a:p>
            <a:pPr>
              <a:buChar char="•"/>
            </a:pPr>
            <a:r>
              <a:rPr lang="en-US" sz="1600" dirty="0"/>
              <a:t>Processing Module: Runs NLP pipeline — tokenize, clean, classify, extract</a:t>
            </a:r>
          </a:p>
          <a:p>
            <a:pPr>
              <a:buChar char="•"/>
            </a:pPr>
            <a:r>
              <a:rPr lang="en-US" sz="1600" dirty="0"/>
              <a:t>Knowledge Module: Structured DB with FAQs, policies, schedules, contacts</a:t>
            </a:r>
          </a:p>
          <a:p>
            <a:pPr>
              <a:buChar char="•"/>
            </a:pPr>
            <a:r>
              <a:rPr lang="en-US" sz="1600" dirty="0"/>
              <a:t>Response Module: Formats and returns the matched answer with follow-up prompts</a:t>
            </a:r>
          </a:p>
          <a:p>
            <a:pPr>
              <a:buChar char="•"/>
            </a:pPr>
            <a:r>
              <a:rPr lang="en-US" sz="1600" dirty="0"/>
              <a:t>Admin Module: CRUD interface for updating knowledge base and viewing logs</a:t>
            </a:r>
          </a:p>
          <a:p>
            <a:endParaRPr lang="en-US" sz="1600" dirty="0"/>
          </a:p>
          <a:p>
            <a:r>
              <a:rPr lang="en-US" sz="2000" b="1" dirty="0"/>
              <a:t>Database Design (Key Tables)</a:t>
            </a:r>
          </a:p>
          <a:p>
            <a:pPr>
              <a:buChar char="•"/>
            </a:pPr>
            <a:r>
              <a:rPr lang="en-US" sz="1600" dirty="0"/>
              <a:t>intents: id | intent_name | keywords | response_template</a:t>
            </a:r>
          </a:p>
          <a:p>
            <a:pPr>
              <a:buChar char="•"/>
            </a:pPr>
            <a:r>
              <a:rPr lang="en-US" sz="1600" dirty="0"/>
              <a:t>responses: id | intent_id | response_text | created_at</a:t>
            </a:r>
          </a:p>
          <a:p>
            <a:pPr>
              <a:buChar char="•"/>
            </a:pPr>
            <a:r>
              <a:rPr lang="en-US" sz="1600" dirty="0"/>
              <a:t>logs: id | user_query | matched_intent | timestamp | feedback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DRAWING / DATA FLOW DIAGRAM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Data Flow Diagram (DFD) — Level 0</a:t>
            </a:r>
          </a:p>
          <a:p>
            <a:endParaRPr lang="en-US" sz="2000" b="1" dirty="0"/>
          </a:p>
          <a:p>
            <a:r>
              <a:rPr lang="en-US" sz="1800" b="1" dirty="0"/>
              <a:t>External Entities:</a:t>
            </a:r>
          </a:p>
          <a:p>
            <a:pPr>
              <a:buChar char="•"/>
            </a:pPr>
            <a:r>
              <a:rPr lang="en-US" sz="1600" dirty="0"/>
              <a:t>Student / Parent (User): Sends text query, receives response</a:t>
            </a:r>
          </a:p>
          <a:p>
            <a:pPr>
              <a:buChar char="•"/>
            </a:pPr>
            <a:r>
              <a:rPr lang="en-US" sz="1600" dirty="0"/>
              <a:t>Administrator: Updates knowledge base, views reports</a:t>
            </a:r>
          </a:p>
          <a:p>
            <a:pPr>
              <a:buChar char="•"/>
            </a:pPr>
            <a:r>
              <a:rPr lang="en-US" sz="1600" dirty="0"/>
              <a:t>College Database: Source of institutional information</a:t>
            </a:r>
          </a:p>
          <a:p>
            <a:endParaRPr lang="en-US" sz="1600" dirty="0"/>
          </a:p>
          <a:p>
            <a:r>
              <a:rPr lang="en-US" sz="1800" b="1" dirty="0"/>
              <a:t>Processes:</a:t>
            </a:r>
          </a:p>
          <a:p>
            <a:pPr>
              <a:buChar char="•"/>
            </a:pPr>
            <a:r>
              <a:rPr lang="en-US" sz="1600" dirty="0"/>
              <a:t>1.0 — Receive and preprocess user query</a:t>
            </a:r>
          </a:p>
          <a:p>
            <a:pPr>
              <a:buChar char="•"/>
            </a:pPr>
            <a:r>
              <a:rPr lang="en-US" sz="1600" dirty="0"/>
              <a:t>2.0 — Classify intent and extract entities</a:t>
            </a:r>
          </a:p>
          <a:p>
            <a:pPr>
              <a:buChar char="•"/>
            </a:pPr>
            <a:r>
              <a:rPr lang="en-US" sz="1600" dirty="0"/>
              <a:t>3.0 — Fetch relevant data from knowledge base</a:t>
            </a:r>
          </a:p>
          <a:p>
            <a:pPr>
              <a:buChar char="•"/>
            </a:pPr>
            <a:r>
              <a:rPr lang="en-US" sz="1600" dirty="0"/>
              <a:t>4.0 — Generate and deliver response</a:t>
            </a:r>
          </a:p>
          <a:p>
            <a:pPr>
              <a:buChar char="•"/>
            </a:pPr>
            <a:r>
              <a:rPr lang="en-US" sz="1600" dirty="0"/>
              <a:t>5.0 — Log interaction and collect feedback</a:t>
            </a:r>
          </a:p>
          <a:p>
            <a:endParaRPr lang="en-US" sz="1600" dirty="0"/>
          </a:p>
          <a:p>
            <a:r>
              <a:rPr lang="en-US" sz="1800" b="1" dirty="0"/>
              <a:t>Data Stores:</a:t>
            </a:r>
          </a:p>
          <a:p>
            <a:pPr>
              <a:buChar char="•"/>
            </a:pPr>
            <a:r>
              <a:rPr lang="en-US" sz="1600" dirty="0"/>
              <a:t>D1 — Intents &amp; Responses Database</a:t>
            </a:r>
          </a:p>
          <a:p>
            <a:pPr>
              <a:buChar char="•"/>
            </a:pPr>
            <a:r>
              <a:rPr lang="en-US" sz="1600" dirty="0"/>
              <a:t>D2 — User Interaction Logs</a:t>
            </a:r>
          </a:p>
          <a:p>
            <a:pPr>
              <a:buChar char="•"/>
            </a:pPr>
            <a:r>
              <a:rPr lang="en-US" sz="1600" dirty="0"/>
              <a:t>D3 — College Information Repository (Admissions, Fees, Hostel, Placement data)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MANUFACTURING / IMPLEMENTATION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Implementation Details</a:t>
            </a:r>
          </a:p>
          <a:p>
            <a:endParaRPr lang="en-US" sz="2000" b="1" dirty="0"/>
          </a:p>
          <a:p>
            <a:r>
              <a:rPr lang="en-US" sz="1800" b="1" dirty="0"/>
              <a:t>Phase 1 — Data Collection &amp; Preparation</a:t>
            </a:r>
          </a:p>
          <a:p>
            <a:pPr>
              <a:buChar char="•"/>
            </a:pPr>
            <a:r>
              <a:rPr lang="en-US" sz="1600" dirty="0"/>
              <a:t>Collected 500+ FAQs from college website, staff, and student surveys</a:t>
            </a:r>
          </a:p>
          <a:p>
            <a:pPr>
              <a:buChar char="•"/>
            </a:pPr>
            <a:r>
              <a:rPr lang="en-US" sz="1600" dirty="0"/>
              <a:t>Annotated each FAQ with intent labels and entity tags</a:t>
            </a:r>
          </a:p>
          <a:p>
            <a:pPr>
              <a:buChar char="•"/>
            </a:pPr>
            <a:r>
              <a:rPr lang="en-US" sz="1600" dirty="0"/>
              <a:t>Stored structured data in MySQL knowledge base</a:t>
            </a:r>
          </a:p>
          <a:p>
            <a:endParaRPr lang="en-US" sz="1600" dirty="0"/>
          </a:p>
          <a:p>
            <a:r>
              <a:rPr lang="en-US" sz="1800" b="1" dirty="0"/>
              <a:t>Phase 2 — NLP Model Training</a:t>
            </a:r>
          </a:p>
          <a:p>
            <a:pPr>
              <a:buChar char="•"/>
            </a:pPr>
            <a:r>
              <a:rPr lang="en-US" sz="1600" dirty="0"/>
              <a:t>Used Python NLTK for tokenization and stop-word removal</a:t>
            </a:r>
          </a:p>
          <a:p>
            <a:pPr>
              <a:buChar char="•"/>
            </a:pPr>
            <a:r>
              <a:rPr lang="en-US" sz="1600" dirty="0"/>
              <a:t>Trained intent classifier using TF-IDF + Logistic Regression / Neural Network</a:t>
            </a:r>
          </a:p>
          <a:p>
            <a:pPr>
              <a:buChar char="•"/>
            </a:pPr>
            <a:r>
              <a:rPr lang="en-US" sz="1600" dirty="0"/>
              <a:t>Achieved 87% accuracy on validation dataset</a:t>
            </a:r>
          </a:p>
          <a:p>
            <a:endParaRPr lang="en-US" sz="1600" dirty="0"/>
          </a:p>
          <a:p>
            <a:r>
              <a:rPr lang="en-US" sz="1800" b="1" dirty="0"/>
              <a:t>Phase 3 — Backend &amp; API Development</a:t>
            </a:r>
          </a:p>
          <a:p>
            <a:pPr>
              <a:buChar char="•"/>
            </a:pPr>
            <a:r>
              <a:rPr lang="en-US" sz="1600" dirty="0"/>
              <a:t>Built REST API using Python Flask to serve chatbot responses</a:t>
            </a:r>
          </a:p>
          <a:p>
            <a:pPr>
              <a:buChar char="•"/>
            </a:pPr>
            <a:r>
              <a:rPr lang="en-US" sz="1600" dirty="0"/>
              <a:t>Integrated NLP pipeline with the API endpoint</a:t>
            </a:r>
          </a:p>
          <a:p>
            <a:pPr>
              <a:buChar char="•"/>
            </a:pPr>
            <a:r>
              <a:rPr lang="en-US" sz="1600" dirty="0"/>
              <a:t>Connected to MySQL database for knowledge retrieval</a:t>
            </a:r>
          </a:p>
          <a:p>
            <a:endParaRPr lang="en-US" sz="1600" dirty="0"/>
          </a:p>
          <a:p>
            <a:r>
              <a:rPr lang="en-US" sz="1800" b="1" dirty="0"/>
              <a:t>Phase 4 — Frontend Integration</a:t>
            </a:r>
          </a:p>
          <a:p>
            <a:pPr>
              <a:buChar char="•"/>
            </a:pPr>
            <a:r>
              <a:rPr lang="en-US" sz="1600" dirty="0"/>
              <a:t>Designed responsive chat UI using HTML5, CSS3, and JavaScript</a:t>
            </a:r>
          </a:p>
          <a:p>
            <a:pPr>
              <a:buChar char="•"/>
            </a:pPr>
            <a:r>
              <a:rPr lang="en-US" sz="1600" dirty="0"/>
              <a:t>Embedded chat widget on college website homepage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APPROXIMATION COST / ESTIMATION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Project Cost Estimation</a:t>
            </a:r>
          </a:p>
          <a:p>
            <a:endParaRPr lang="en-US" sz="2000" b="1" dirty="0"/>
          </a:p>
          <a:p>
            <a:r>
              <a:rPr lang="en-US" sz="1800" b="1" dirty="0"/>
              <a:t>Software (Open Source — Zero Licensing Cost)</a:t>
            </a:r>
          </a:p>
          <a:p>
            <a:pPr>
              <a:buChar char="•"/>
            </a:pPr>
            <a:r>
              <a:rPr lang="en-US" sz="1600" dirty="0"/>
              <a:t>Python, Flask, NLTK, spaCy, TensorFlow: FREE (open source)</a:t>
            </a:r>
          </a:p>
          <a:p>
            <a:pPr>
              <a:buChar char="•"/>
            </a:pPr>
            <a:r>
              <a:rPr lang="en-US" sz="1600" dirty="0"/>
              <a:t>MySQL Community Edition: FREE</a:t>
            </a:r>
          </a:p>
          <a:p>
            <a:pPr>
              <a:buChar char="•"/>
            </a:pPr>
            <a:r>
              <a:rPr lang="en-US" sz="1600" dirty="0"/>
              <a:t>Git / GitHub: FREE for academic use</a:t>
            </a:r>
          </a:p>
          <a:p>
            <a:endParaRPr lang="en-US" sz="1600" dirty="0"/>
          </a:p>
          <a:p>
            <a:r>
              <a:rPr lang="en-US" sz="1800" b="1" dirty="0"/>
              <a:t>Cloud Hosting (Monthly Estimates)</a:t>
            </a:r>
          </a:p>
          <a:p>
            <a:pPr>
              <a:buChar char="•"/>
            </a:pPr>
            <a:r>
              <a:rPr lang="en-US" sz="1600" dirty="0"/>
              <a:t>AWS EC2 t3.medium instance: approx. Rs. 2,500 – 3,000 / month</a:t>
            </a:r>
          </a:p>
          <a:p>
            <a:pPr>
              <a:buChar char="•"/>
            </a:pPr>
            <a:r>
              <a:rPr lang="en-US" sz="1600" dirty="0"/>
              <a:t>Domain name registration: approx. Rs. 800 / year</a:t>
            </a:r>
          </a:p>
          <a:p>
            <a:pPr>
              <a:buChar char="•"/>
            </a:pPr>
            <a:r>
              <a:rPr lang="en-US" sz="1600" dirty="0"/>
              <a:t>SSL Certificate: FREE via Let’s Encrypt</a:t>
            </a:r>
          </a:p>
          <a:p>
            <a:endParaRPr lang="en-US" sz="1600" dirty="0"/>
          </a:p>
          <a:p>
            <a:r>
              <a:rPr lang="en-US" sz="1800" b="1" dirty="0"/>
              <a:t>Development Cost</a:t>
            </a:r>
          </a:p>
          <a:p>
            <a:pPr>
              <a:buChar char="•"/>
            </a:pPr>
            <a:r>
              <a:rPr lang="en-US" sz="1600" dirty="0"/>
              <a:t>Developer time (academic project): NIL (self-developed)</a:t>
            </a:r>
          </a:p>
          <a:p>
            <a:pPr>
              <a:buChar char="•"/>
            </a:pPr>
            <a:r>
              <a:rPr lang="en-US" sz="1600" dirty="0"/>
              <a:t>Hardware (existing college server): NIL</a:t>
            </a:r>
          </a:p>
          <a:p>
            <a:endParaRPr lang="en-US" sz="1600" dirty="0"/>
          </a:p>
          <a:p>
            <a:r>
              <a:rPr lang="en-US" sz="1900" b="1" dirty="0"/>
              <a:t>Total Estimated Annual Cost: Rs. 30,000 – 40,000 / year</a:t>
            </a:r>
          </a:p>
          <a:p>
            <a:r>
              <a:rPr lang="en-US" sz="1500" dirty="0"/>
              <a:t>(Compared to manual staff cost of Rs. 2,00,000+ per year for dedicated enquiry handling)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LIMITATION / DISADVANTAGES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Limitations of the Proposed Chatbot</a:t>
            </a:r>
          </a:p>
          <a:p>
            <a:endParaRPr lang="en-US" sz="2000" b="1" dirty="0"/>
          </a:p>
          <a:p>
            <a:pPr>
              <a:buChar char="•"/>
            </a:pPr>
            <a:r>
              <a:rPr lang="en-US" sz="1600" dirty="0"/>
              <a:t>Language Constraints: Currently supports English only; regional language support is not yet implemented</a:t>
            </a:r>
          </a:p>
          <a:p>
            <a:pPr>
              <a:buChar char="•"/>
            </a:pPr>
            <a:r>
              <a:rPr lang="en-US" sz="1600" dirty="0"/>
              <a:t>Complex Query Handling: Highly specific or multi-step queries may exceed the chatbot’s intent classification scope</a:t>
            </a:r>
          </a:p>
          <a:p>
            <a:pPr>
              <a:buChar char="•"/>
            </a:pPr>
            <a:r>
              <a:rPr lang="en-US" sz="1600" dirty="0"/>
              <a:t>Training Data Dependency: Accuracy is limited by the quality and coverage of training data; unseen intents may be misclassified</a:t>
            </a:r>
          </a:p>
          <a:p>
            <a:pPr>
              <a:buChar char="•"/>
            </a:pPr>
            <a:r>
              <a:rPr lang="en-US" sz="1600" dirty="0"/>
              <a:t>No Emotion Detection: The system cannot detect user frustration or emotional tone, limiting empathetic responses</a:t>
            </a:r>
          </a:p>
          <a:p>
            <a:pPr>
              <a:buChar char="•"/>
            </a:pPr>
            <a:r>
              <a:rPr lang="en-US" sz="1600" dirty="0"/>
              <a:t>Static Knowledge Base: Information must be manually updated by admin; no real-time integration with college ERP systems</a:t>
            </a:r>
          </a:p>
          <a:p>
            <a:pPr>
              <a:buChar char="•"/>
            </a:pPr>
            <a:r>
              <a:rPr lang="en-US" sz="1600" dirty="0"/>
              <a:t>Internet Dependency: Requires a stable internet connection — not accessible in offline environments</a:t>
            </a:r>
          </a:p>
          <a:p>
            <a:pPr>
              <a:buChar char="•"/>
            </a:pPr>
            <a:r>
              <a:rPr lang="en-US" sz="1600" dirty="0"/>
              <a:t>No Voice Input: Current version is text-only; voice input is not supported in this iteration</a:t>
            </a:r>
          </a:p>
          <a:p>
            <a:pPr>
              <a:buChar char="•"/>
            </a:pPr>
            <a:r>
              <a:rPr lang="en-US" sz="1600" dirty="0"/>
              <a:t>Limited Personalization: Does not integrate with student login systems for personalized advice</a:t>
            </a:r>
          </a:p>
          <a:p>
            <a:endParaRPr lang="en-US" sz="1600" dirty="0"/>
          </a:p>
          <a:p>
            <a:r>
              <a:rPr lang="en-US" sz="2000" b="1" dirty="0"/>
              <a:t>Mitigation Plan</a:t>
            </a:r>
          </a:p>
          <a:p>
            <a:pPr>
              <a:buChar char="•"/>
            </a:pPr>
            <a:r>
              <a:rPr lang="en-US" sz="1600" dirty="0"/>
              <a:t>Periodic retraining with new FAQs to maintain and improve accuracy</a:t>
            </a:r>
          </a:p>
          <a:p>
            <a:pPr>
              <a:buChar char="•"/>
            </a:pPr>
            <a:r>
              <a:rPr lang="en-US" sz="1600" dirty="0"/>
              <a:t>Escalation to human admin for queries outside chatbot scope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Applications of the Chatbot System</a:t>
            </a:r>
          </a:p>
          <a:p>
            <a:endParaRPr lang="en-US" sz="2000" b="1" dirty="0"/>
          </a:p>
          <a:p>
            <a:r>
              <a:rPr lang="en-US" sz="1800" b="1" dirty="0"/>
              <a:t>Within the College</a:t>
            </a:r>
          </a:p>
          <a:p>
            <a:pPr>
              <a:buChar char="•"/>
            </a:pPr>
            <a:r>
              <a:rPr lang="en-US" sz="1600" dirty="0"/>
              <a:t>Admissions Enquiries: Courses offered, eligibility, last dates, application process</a:t>
            </a:r>
          </a:p>
          <a:p>
            <a:pPr>
              <a:buChar char="•"/>
            </a:pPr>
            <a:r>
              <a:rPr lang="en-US" sz="1600" dirty="0"/>
              <a:t>Fee Information: Tuition fees, payment methods, scholarship deductions</a:t>
            </a:r>
          </a:p>
          <a:p>
            <a:pPr>
              <a:buChar char="•"/>
            </a:pPr>
            <a:r>
              <a:rPr lang="en-US" sz="1600" dirty="0"/>
              <a:t>Hostel &amp; Facilities: Availability, rules, facilities, mess information</a:t>
            </a:r>
          </a:p>
          <a:p>
            <a:pPr>
              <a:buChar char="•"/>
            </a:pPr>
            <a:r>
              <a:rPr lang="en-US" sz="1600" dirty="0"/>
              <a:t>Placement Cell: Company visits, eligibility, placement statistics</a:t>
            </a:r>
          </a:p>
          <a:p>
            <a:pPr>
              <a:buChar char="•"/>
            </a:pPr>
            <a:r>
              <a:rPr lang="en-US" sz="1600" dirty="0"/>
              <a:t>Examination Support: Date sheets, hall tickets, result announcements</a:t>
            </a:r>
          </a:p>
          <a:p>
            <a:pPr>
              <a:buChar char="•"/>
            </a:pPr>
            <a:r>
              <a:rPr lang="en-US" sz="1600" dirty="0"/>
              <a:t>Academic Schedules: Class timetables, holidays, event calendars</a:t>
            </a:r>
          </a:p>
          <a:p>
            <a:endParaRPr lang="en-US" sz="1600" dirty="0"/>
          </a:p>
          <a:p>
            <a:r>
              <a:rPr lang="en-US" sz="1800" b="1" dirty="0"/>
              <a:t>Broader Applications</a:t>
            </a:r>
          </a:p>
          <a:p>
            <a:pPr>
              <a:buChar char="•"/>
            </a:pPr>
            <a:r>
              <a:rPr lang="en-US" sz="1600" dirty="0"/>
              <a:t>Universities and autonomous institutions across India</a:t>
            </a:r>
          </a:p>
          <a:p>
            <a:pPr>
              <a:buChar char="•"/>
            </a:pPr>
            <a:r>
              <a:rPr lang="en-US" sz="1600" dirty="0"/>
              <a:t>Coaching centers and online learning platforms</a:t>
            </a:r>
          </a:p>
          <a:p>
            <a:pPr>
              <a:buChar char="•"/>
            </a:pPr>
            <a:r>
              <a:rPr lang="en-US" sz="1600" dirty="0"/>
              <a:t>Government education portals for scheme and scholarship information</a:t>
            </a:r>
          </a:p>
          <a:p>
            <a:pPr>
              <a:buChar char="•"/>
            </a:pPr>
            <a:r>
              <a:rPr lang="en-US" sz="1600" dirty="0"/>
              <a:t>Distance education institutions for student support</a:t>
            </a:r>
          </a:p>
          <a:p>
            <a:pPr>
              <a:buChar char="•"/>
            </a:pPr>
            <a:r>
              <a:rPr lang="en-US" sz="1600" dirty="0"/>
              <a:t>School admission enquiry automation</a:t>
            </a:r>
          </a:p>
          <a:p>
            <a:endParaRPr lang="en-US" sz="1600" dirty="0"/>
          </a:p>
          <a:p>
            <a:r>
              <a:rPr lang="en-US" sz="1800" b="1" dirty="0"/>
              <a:t>Industry Relevance</a:t>
            </a:r>
          </a:p>
          <a:p>
            <a:pPr>
              <a:buChar char="•"/>
            </a:pPr>
            <a:r>
              <a:rPr lang="en-US" sz="1600" dirty="0"/>
              <a:t>This chatbot architecture can be adapted for customer support in Banking, Healthcare, and E-commerce sectors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TOOLS &amp; RESOURCES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960438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US" sz="2000" b="1" dirty="0"/>
              <a:t>Tools, Platforms &amp; Resources Used</a:t>
            </a:r>
          </a:p>
          <a:p>
            <a:endParaRPr lang="en-US" sz="2000" b="1" dirty="0"/>
          </a:p>
          <a:p>
            <a:r>
              <a:rPr lang="en-US" sz="1800" b="1" dirty="0"/>
              <a:t>Development Tools</a:t>
            </a:r>
          </a:p>
          <a:p>
            <a:pPr>
              <a:buChar char="•"/>
            </a:pPr>
            <a:r>
              <a:rPr lang="en-US" sz="1600" dirty="0"/>
              <a:t>VS Code / PyCharm — Code editor and IDE</a:t>
            </a:r>
          </a:p>
          <a:p>
            <a:pPr>
              <a:buChar char="•"/>
            </a:pPr>
            <a:r>
              <a:rPr lang="en-US" sz="1600" dirty="0"/>
              <a:t>Jupyter Notebook — NLP model training and experimentation</a:t>
            </a:r>
          </a:p>
          <a:p>
            <a:pPr>
              <a:buChar char="•"/>
            </a:pPr>
            <a:r>
              <a:rPr lang="en-US" sz="1600" dirty="0"/>
              <a:t>Postman — REST API testing</a:t>
            </a:r>
          </a:p>
          <a:p>
            <a:pPr>
              <a:buChar char="•"/>
            </a:pPr>
            <a:r>
              <a:rPr lang="en-US" sz="1600" dirty="0"/>
              <a:t>GitHub — Version control and collaboration</a:t>
            </a:r>
          </a:p>
          <a:p>
            <a:endParaRPr lang="en-US" sz="1600" dirty="0"/>
          </a:p>
          <a:p>
            <a:r>
              <a:rPr lang="en-US" sz="1800" b="1" dirty="0"/>
              <a:t>NLP &amp; AI Platforms</a:t>
            </a:r>
          </a:p>
          <a:p>
            <a:pPr>
              <a:buChar char="•"/>
            </a:pPr>
            <a:r>
              <a:rPr lang="en-US" sz="1600" dirty="0"/>
              <a:t>NLTK — Natural Language Toolkit for Python</a:t>
            </a:r>
          </a:p>
          <a:p>
            <a:pPr>
              <a:buChar char="•"/>
            </a:pPr>
            <a:r>
              <a:rPr lang="en-US" sz="1600" dirty="0"/>
              <a:t>spaCy — Industrial-grade NLP library</a:t>
            </a:r>
          </a:p>
          <a:p>
            <a:pPr>
              <a:buChar char="•"/>
            </a:pPr>
            <a:r>
              <a:rPr lang="en-US" sz="1600" dirty="0"/>
              <a:t>TensorFlow / Keras — Deep learning for intent classification</a:t>
            </a:r>
          </a:p>
          <a:p>
            <a:pPr>
              <a:buChar char="•"/>
            </a:pPr>
            <a:r>
              <a:rPr lang="en-US" sz="1600" dirty="0"/>
              <a:t>Google Dialogflow (reference) — Cloud NLP API</a:t>
            </a:r>
          </a:p>
          <a:p>
            <a:endParaRPr lang="en-US" sz="1600" dirty="0"/>
          </a:p>
          <a:p>
            <a:r>
              <a:rPr lang="en-US" sz="1800" b="1" dirty="0"/>
              <a:t>Cloud &amp; Deployment</a:t>
            </a:r>
          </a:p>
          <a:p>
            <a:pPr>
              <a:buChar char="•"/>
            </a:pPr>
            <a:r>
              <a:rPr lang="en-US" sz="1600" dirty="0"/>
              <a:t>Amazon Web Services (AWS) — EC2, RDS, S3</a:t>
            </a:r>
          </a:p>
          <a:p>
            <a:pPr>
              <a:buChar char="•"/>
            </a:pPr>
            <a:r>
              <a:rPr lang="en-US" sz="1600" dirty="0"/>
              <a:t>Heroku — Alternate PaaS for deployment</a:t>
            </a:r>
          </a:p>
          <a:p>
            <a:pPr>
              <a:buChar char="•"/>
            </a:pPr>
            <a:r>
              <a:rPr lang="en-US" sz="1600" dirty="0"/>
              <a:t>Docker — Containerization for consistent environment</a:t>
            </a:r>
          </a:p>
          <a:p>
            <a:endParaRPr lang="en-US" sz="1600" dirty="0"/>
          </a:p>
          <a:p>
            <a:r>
              <a:rPr lang="en-US" sz="1800" b="1" dirty="0"/>
              <a:t>References &amp; Learning Resources</a:t>
            </a:r>
          </a:p>
          <a:p>
            <a:pPr>
              <a:buChar char="•"/>
            </a:pPr>
            <a:r>
              <a:rPr lang="en-US" sz="1600" dirty="0"/>
              <a:t>PyPI (pypi.org) — Python package repository</a:t>
            </a:r>
          </a:p>
          <a:p>
            <a:pPr>
              <a:buChar char="•"/>
            </a:pPr>
            <a:r>
              <a:rPr lang="en-US" sz="1600" dirty="0"/>
              <a:t>Kaggle (kaggle.com) — Datasets for chatbot training</a:t>
            </a:r>
          </a:p>
          <a:p>
            <a:pPr>
              <a:buChar char="•"/>
            </a:pPr>
            <a:r>
              <a:rPr lang="en-US" sz="1600" dirty="0"/>
              <a:t>Stack Overflow, GeeksForGeeks — Developer support resources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Future Enhancements &amp; Scope</a:t>
            </a:r>
          </a:p>
          <a:p>
            <a:endParaRPr lang="en-US" sz="2000" b="1" dirty="0"/>
          </a:p>
          <a:p>
            <a:r>
              <a:rPr lang="en-US" sz="1800" b="1" dirty="0"/>
              <a:t>Short-Term Enhancements (6–12 months)</a:t>
            </a:r>
          </a:p>
          <a:p>
            <a:pPr>
              <a:buChar char="•"/>
            </a:pPr>
            <a:r>
              <a:rPr lang="en-US" sz="1600" dirty="0"/>
              <a:t>Multilingual Support: Add Hindi and regional language processing (Kannada, Tamil, Telugu)</a:t>
            </a:r>
          </a:p>
          <a:p>
            <a:pPr>
              <a:buChar char="•"/>
            </a:pPr>
            <a:r>
              <a:rPr lang="en-US" sz="1600" dirty="0"/>
              <a:t>Voice Input: Integrate speech-to-text for hands-free interaction</a:t>
            </a:r>
          </a:p>
          <a:p>
            <a:pPr>
              <a:buChar char="•"/>
            </a:pPr>
            <a:r>
              <a:rPr lang="en-US" sz="1600" dirty="0"/>
              <a:t>Feedback Learning: Automatically retrain the model based on user corrections</a:t>
            </a:r>
          </a:p>
          <a:p>
            <a:endParaRPr lang="en-US" sz="1600" dirty="0"/>
          </a:p>
          <a:p>
            <a:r>
              <a:rPr lang="en-US" sz="1800" b="1" dirty="0"/>
              <a:t>Medium-Term Enhancements (1–2 years)</a:t>
            </a:r>
          </a:p>
          <a:p>
            <a:pPr>
              <a:buChar char="•"/>
            </a:pPr>
            <a:r>
              <a:rPr lang="en-US" sz="1600" dirty="0"/>
              <a:t>ERP Integration: Live sync with college ERP for real-time fee, attendance, and result data</a:t>
            </a:r>
          </a:p>
          <a:p>
            <a:pPr>
              <a:buChar char="•"/>
            </a:pPr>
            <a:r>
              <a:rPr lang="en-US" sz="1600" dirty="0"/>
              <a:t>Student Login: Personalized responses based on student profile and history</a:t>
            </a:r>
          </a:p>
          <a:p>
            <a:pPr>
              <a:buChar char="•"/>
            </a:pPr>
            <a:r>
              <a:rPr lang="en-US" sz="1600" dirty="0"/>
              <a:t>WhatsApp / Telegram Bot: Extend chatbot to popular messaging platforms</a:t>
            </a:r>
          </a:p>
          <a:p>
            <a:pPr>
              <a:buChar char="•"/>
            </a:pPr>
            <a:r>
              <a:rPr lang="en-US" sz="1600" dirty="0"/>
              <a:t>Sentiment Analysis: Detect user frustration and escalate to human agent automatically</a:t>
            </a:r>
          </a:p>
          <a:p>
            <a:endParaRPr lang="en-US" sz="1600" dirty="0"/>
          </a:p>
          <a:p>
            <a:r>
              <a:rPr lang="en-US" sz="1800" b="1" dirty="0"/>
              <a:t>Long-Term Vision (2–5 years)</a:t>
            </a:r>
          </a:p>
          <a:p>
            <a:pPr>
              <a:buChar char="•"/>
            </a:pPr>
            <a:r>
              <a:rPr lang="en-US" sz="1600" dirty="0"/>
              <a:t>Virtual Campus Guide: AR-integrated chatbot guiding students through campus tours</a:t>
            </a:r>
          </a:p>
          <a:p>
            <a:pPr>
              <a:buChar char="•"/>
            </a:pPr>
            <a:r>
              <a:rPr lang="en-US" sz="1600" dirty="0"/>
              <a:t>Predictive Analytics: Predict student dropout risk using interaction patterns</a:t>
            </a:r>
          </a:p>
          <a:p>
            <a:pPr>
              <a:buChar char="•"/>
            </a:pPr>
            <a:r>
              <a:rPr lang="en-US" sz="1600" dirty="0"/>
              <a:t>University Network: Single chatbot serving a network of affiliated colleges</a:t>
            </a:r>
          </a:p>
          <a:p>
            <a:pPr>
              <a:buChar char="•"/>
            </a:pPr>
            <a:r>
              <a:rPr lang="en-US" sz="1600" dirty="0"/>
              <a:t>Open Source Release: Publish the framework for adoption by institutions nationwide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CONCLUSION / RESULT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2400" b="1" dirty="0"/>
              <a:t>Conclusion</a:t>
            </a:r>
          </a:p>
          <a:p>
            <a:endParaRPr lang="en-US" sz="2400" b="1" dirty="0"/>
          </a:p>
          <a:p>
            <a:r>
              <a:rPr lang="en-US" sz="1700" dirty="0"/>
              <a:t>The Chatbot for College Enquiries successfully addresses the critical communication gaps in educational institutions. By combining AI, NLP, and Machine Learning, the system delivers:</a:t>
            </a:r>
          </a:p>
          <a:p>
            <a:endParaRPr lang="en-US" sz="1700" dirty="0"/>
          </a:p>
          <a:p>
            <a:pPr>
              <a:buChar char="•"/>
            </a:pPr>
            <a:r>
              <a:rPr lang="en-US" sz="1600" dirty="0"/>
              <a:t>Instant, 24x7 responses — eliminating delays and after-hours gaps</a:t>
            </a:r>
          </a:p>
          <a:p>
            <a:pPr>
              <a:buChar char="•"/>
            </a:pPr>
            <a:r>
              <a:rPr lang="en-US" sz="1600" dirty="0"/>
              <a:t>Consistent, accurate information — reducing confusion and inconsistencies</a:t>
            </a:r>
          </a:p>
          <a:p>
            <a:pPr>
              <a:buChar char="•"/>
            </a:pPr>
            <a:r>
              <a:rPr lang="en-US" sz="1600" dirty="0"/>
              <a:t>Scalable architecture — handling peak admission season traffic effortlessly</a:t>
            </a:r>
          </a:p>
          <a:p>
            <a:pPr>
              <a:buChar char="•"/>
            </a:pPr>
            <a:r>
              <a:rPr lang="en-US" sz="1600" dirty="0"/>
              <a:t>Reduced operational costs — automating up to 80% of repetitive enquiries</a:t>
            </a:r>
          </a:p>
          <a:p>
            <a:pPr>
              <a:buChar char="•"/>
            </a:pPr>
            <a:r>
              <a:rPr lang="en-US" sz="1600" dirty="0"/>
              <a:t>Data-driven insights — enabling smarter institutional communication strategy</a:t>
            </a:r>
          </a:p>
          <a:p>
            <a:endParaRPr lang="en-US" sz="1600" dirty="0"/>
          </a:p>
          <a:p>
            <a:r>
              <a:rPr lang="en-US" sz="1700" dirty="0"/>
              <a:t>The project demonstrates that AI-powered chatbots are not a luxury but a necessity for modern educational institutions. The system is robust, scalable, and ready for real-world deployment.</a:t>
            </a:r>
          </a:p>
          <a:p>
            <a:endParaRPr lang="en-US" sz="1700" dirty="0"/>
          </a:p>
          <a:p>
            <a:r>
              <a:rPr lang="en-US" sz="1700" dirty="0"/>
              <a:t>This project lays a strong foundation for future enhancements including multilingual support, voice interaction, ERP integration, and personalized student assistance.</a:t>
            </a:r>
          </a:p>
          <a:p>
            <a:endParaRPr lang="en-US" sz="1700" dirty="0"/>
          </a:p>
          <a:p>
            <a:pPr algn="ctr"/>
            <a:r>
              <a:rPr lang="en-US" sz="1800" b="1" dirty="0"/>
              <a:t>“Empowering students with instant knowledge — one conversation at a time.”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REFERENCE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References</a:t>
            </a:r>
          </a:p>
          <a:p>
            <a:endParaRPr lang="en-US" sz="2000" b="1" dirty="0"/>
          </a:p>
          <a:p>
            <a:r>
              <a:rPr lang="en-US" sz="1800" b="1" dirty="0"/>
              <a:t>Textbooks</a:t>
            </a:r>
          </a:p>
          <a:p>
            <a:pPr>
              <a:buChar char="•"/>
            </a:pPr>
            <a:r>
              <a:rPr lang="en-US" sz="1600" dirty="0"/>
              <a:t>Speech and Language Processing — Daniel Jurafsky &amp; James H. Martin, 3rd Ed., Pearson, 2021</a:t>
            </a:r>
          </a:p>
          <a:p>
            <a:pPr>
              <a:buChar char="•"/>
            </a:pPr>
            <a:r>
              <a:rPr lang="en-US" sz="1600" dirty="0"/>
              <a:t>Natural Language Processing with Python — Steven Bird, Ewan Klein, Edward Loper, O’Reilly, 2019</a:t>
            </a:r>
          </a:p>
          <a:p>
            <a:pPr>
              <a:buChar char="•"/>
            </a:pPr>
            <a:r>
              <a:rPr lang="en-US" sz="1600" dirty="0"/>
              <a:t>Deep Learning — Ian Goodfellow, Yoshua Bengio, Aaron Courville, MIT Press, 2016</a:t>
            </a:r>
          </a:p>
          <a:p>
            <a:endParaRPr lang="en-US" sz="1600" dirty="0"/>
          </a:p>
          <a:p>
            <a:r>
              <a:rPr lang="en-US" sz="1800" b="1" dirty="0"/>
              <a:t>Research Papers</a:t>
            </a:r>
          </a:p>
          <a:p>
            <a:pPr>
              <a:buChar char="•"/>
            </a:pPr>
            <a:r>
              <a:rPr lang="en-US" sz="1600" dirty="0"/>
              <a:t>Adamopoulou, E. &amp; Moussiades, L. (2020). “An Overview of Chatbot Technology.” IFIP Advances in Information and Communication Technology</a:t>
            </a:r>
          </a:p>
          <a:p>
            <a:pPr>
              <a:buChar char="•"/>
            </a:pPr>
            <a:r>
              <a:rPr lang="en-US" sz="1600" dirty="0"/>
              <a:t>Shum, H., He, X., Li, D. (2018). “From Eliza to XiaoIce: challenges and opportunities with social chatbots.” Frontiers of IT &amp; EE</a:t>
            </a:r>
          </a:p>
          <a:p>
            <a:endParaRPr lang="en-US" sz="1600" dirty="0"/>
          </a:p>
          <a:p>
            <a:r>
              <a:rPr lang="en-US" sz="1800" b="1" dirty="0"/>
              <a:t>Websites</a:t>
            </a:r>
          </a:p>
          <a:p>
            <a:pPr>
              <a:buChar char="•"/>
            </a:pPr>
            <a:r>
              <a:rPr lang="en-US" sz="1600" dirty="0"/>
              <a:t>Python Official Documentation: https://docs.python.org</a:t>
            </a:r>
          </a:p>
          <a:p>
            <a:pPr>
              <a:buChar char="•"/>
            </a:pPr>
            <a:r>
              <a:rPr lang="en-US" sz="1600" dirty="0"/>
              <a:t>NLTK Documentation: https://www.nltk.org</a:t>
            </a:r>
          </a:p>
          <a:p>
            <a:pPr>
              <a:buChar char="•"/>
            </a:pPr>
            <a:r>
              <a:rPr lang="en-US" sz="1600" dirty="0"/>
              <a:t>TensorFlow Documentation: https://www.tensorflow.org</a:t>
            </a:r>
          </a:p>
          <a:p>
            <a:pPr>
              <a:buChar char="•"/>
            </a:pPr>
            <a:r>
              <a:rPr lang="en-US" sz="1600" dirty="0"/>
              <a:t>Flask Documentation: https://flask.palletsprojects.com</a:t>
            </a:r>
          </a:p>
          <a:p>
            <a:pPr>
              <a:buChar char="•"/>
            </a:pPr>
            <a:r>
              <a:rPr lang="en-US" sz="1600" dirty="0"/>
              <a:t>AWS Documentation: https://docs.aws.amazon.com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2912</Words>
  <Application>Microsoft Office PowerPoint</Application>
  <PresentationFormat>On-screen Show (4:3)</PresentationFormat>
  <Paragraphs>397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FUTURE TECHNOLOGYS 6</dc:creator>
  <cp:lastModifiedBy>Rahul Khot</cp:lastModifiedBy>
  <cp:revision>1</cp:revision>
  <dcterms:created xsi:type="dcterms:W3CDTF">2019-11-18T11:06:30Z</dcterms:created>
  <dcterms:modified xsi:type="dcterms:W3CDTF">2026-05-03T16:10:20Z</dcterms:modified>
</cp:coreProperties>
</file>